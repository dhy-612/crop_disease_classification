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2A68A4"/>
            </a:solidFill>
          </c:spPr>
          <c:invertIfNegative val="1"/>
          <c:cat>
            <c:strRef>
              <c:f>Sheet1!$A$2:$A$10</c:f>
              <c:strCache>
                <c:ptCount val="9"/>
                <c:pt idx="0">
                  <c:v>Tomato YLCV</c:v>
                </c:pt>
                <c:pt idx="1">
                  <c:v>Tomato bacterial</c:v>
                </c:pt>
                <c:pt idx="2">
                  <c:v>Tomato late blight</c:v>
                </c:pt>
                <c:pt idx="3">
                  <c:v>Tomato Septoria</c:v>
                </c:pt>
                <c:pt idx="4">
                  <c:v>Tomato spider mites</c:v>
                </c:pt>
                <c:pt idx="5">
                  <c:v>Tomato healthy</c:v>
                </c:pt>
                <c:pt idx="6">
                  <c:v>Pepper healthy</c:v>
                </c:pt>
                <c:pt idx="7">
                  <c:v>Potato healthy</c:v>
                </c:pt>
                <c:pt idx="8">
                  <c:v>Tomato mosaic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3208</c:v>
                </c:pt>
                <c:pt idx="1">
                  <c:v>2127</c:v>
                </c:pt>
                <c:pt idx="2">
                  <c:v>1909</c:v>
                </c:pt>
                <c:pt idx="3">
                  <c:v>1771</c:v>
                </c:pt>
                <c:pt idx="4">
                  <c:v>1676</c:v>
                </c:pt>
                <c:pt idx="5">
                  <c:v>1591</c:v>
                </c:pt>
                <c:pt idx="6">
                  <c:v>1478</c:v>
                </c:pt>
                <c:pt idx="7">
                  <c:v>152</c:v>
                </c:pt>
                <c:pt idx="8">
                  <c:v>373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6C5-4FC3-AB9E-9E5268626D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2926080" cy="2926080"/>
          </a:xfrm>
          <a:prstGeom prst="ellipse">
            <a:avLst/>
          </a:prstGeom>
          <a:solidFill>
            <a:srgbClr val="2A6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2194560"/>
            <a:ext cx="1645920" cy="1645920"/>
          </a:xfrm>
          <a:prstGeom prst="ellipse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2B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71323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1">
                <a:solidFill>
                  <a:srgbClr val="7ED3C9"/>
                </a:solidFill>
                <a:latin typeface="Aptos"/>
              </a:rPr>
              <a:t>TECHNICAL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498079" cy="1371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Crop Disease
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583680" cy="7315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900" b="0">
                <a:solidFill>
                  <a:srgbClr val="DAE5EF"/>
                </a:solidFill>
                <a:latin typeface="Aptos"/>
              </a:rPr>
              <a:t>A 15-class deep learning system using MobileNetV2 transfer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68580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PlantVillage Dataset  |  TensorFlow / Keras  |  Streamlit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4572000" cy="28007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100" b="0" dirty="0">
                <a:solidFill>
                  <a:srgbClr val="B4C5D6"/>
                </a:solidFill>
                <a:latin typeface="Aptos"/>
              </a:rPr>
              <a:t>Presenter: </a:t>
            </a:r>
            <a:r>
              <a:rPr lang="en-US" sz="1100" dirty="0">
                <a:solidFill>
                  <a:srgbClr val="B4C5D6"/>
                </a:solidFill>
                <a:latin typeface="Aptos"/>
              </a:rPr>
              <a:t>Harsh Yadav</a:t>
            </a:r>
            <a:endParaRPr sz="1100" b="0" dirty="0">
              <a:solidFill>
                <a:srgbClr val="B4C5D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Problem statement &amp; project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36776"/>
            <a:ext cx="497433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2A68A4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39112"/>
            <a:ext cx="4974336" cy="1188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Crop diseases can reduce yield and quality. Early visual identification can help farmers decide when to seek advice or take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636776"/>
            <a:ext cx="497433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1C8F85"/>
                </a:solidFill>
                <a:latin typeface="Aptos"/>
              </a:rPr>
              <a:t>THE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039112"/>
            <a:ext cx="4974336" cy="1188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Build an image classifier that predicts one of 15 pepper, potato, or tomato leaf categories from an uploaded image.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78992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Input: a crop leaf image (RGB).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Output: predicted class, confidence score, and top-three predictions.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Intended role: decision support / preliminary screening, not a replacement for agronomist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02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Dataset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14600" cy="114300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228600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400" b="1">
                <a:solidFill>
                  <a:srgbClr val="2A68A4"/>
                </a:solidFill>
                <a:latin typeface="Aptos"/>
              </a:rPr>
              <a:t>20,638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4884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5D6C7C"/>
                </a:solidFill>
                <a:latin typeface="Aptos"/>
              </a:rPr>
              <a:t>total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08760"/>
            <a:ext cx="2514600" cy="114300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1664208"/>
            <a:ext cx="228600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400" b="1">
                <a:solidFill>
                  <a:srgbClr val="2A68A4"/>
                </a:solidFill>
                <a:latin typeface="Aptos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14884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5D6C7C"/>
                </a:solidFill>
                <a:latin typeface="Aptos"/>
              </a:rPr>
              <a:t>target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2514600" cy="114300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664208"/>
            <a:ext cx="228600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400" b="1">
                <a:solidFill>
                  <a:srgbClr val="2A68A4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4884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5D6C7C"/>
                </a:solidFill>
                <a:latin typeface="Aptos"/>
              </a:rPr>
              <a:t>crop groups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08760"/>
            <a:ext cx="2514600" cy="114300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53728" y="1664208"/>
            <a:ext cx="228600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400" b="1">
                <a:solidFill>
                  <a:srgbClr val="2A68A4"/>
                </a:solidFill>
                <a:latin typeface="Aptos"/>
              </a:rPr>
              <a:t>70 / 15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14884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5D6C7C"/>
                </a:solidFill>
                <a:latin typeface="Aptos"/>
              </a:rPr>
              <a:t>train / validation /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10607040" cy="2560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PlantVillage leaf-image dataset with pepper, potato, and tomato categories.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Healthy classes are retained as distinct labels; the task is 15-class classification.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Per-class splitting produced 14,437 training, 3,100 validation, and 3,101 test images.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Class counts are imbalanced: the largest class contains 3,208 images and the smallest 152.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02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Exploratory data analysis: what stood out?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463040"/>
          <a:ext cx="57607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29400" y="1645920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Noticeable class imbalance across the 15 categories.</a:t>
            </a:r>
          </a:p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Potato Healthy is the smallest class (152); Tomato Yellow Leaf Curl Virus is the largest (3,208).</a:t>
            </a:r>
          </a:p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Several disease categories show visually similar leaf symptoms, which can make classification difficult.</a:t>
            </a:r>
          </a:p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Implication: evaluate per-class precision and recall—not accuracy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54864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0">
                <a:solidFill>
                  <a:srgbClr val="5D6C7C"/>
                </a:solidFill>
                <a:latin typeface="Aptos"/>
              </a:rPr>
              <a:t>Selected class counts shown; full distribution is in the notebook.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03 •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Preprocessing &amp; data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36776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2A68A4"/>
                </a:solidFill>
                <a:latin typeface="Aptos"/>
              </a:rPr>
              <a:t>IMAGE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39112"/>
            <a:ext cx="3191256" cy="1188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Read image → decode RGB → resize to 224 × 224 → convert to float32 → batch and prefetch.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636776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1C8F85"/>
                </a:solidFill>
                <a:latin typeface="Aptos"/>
              </a:rPr>
              <a:t>DATA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39112"/>
            <a:ext cx="3191256" cy="1188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Stratified per-class split: 70% train, 15% validation, 15%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636776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DD893A"/>
                </a:solidFill>
                <a:latin typeface="Aptos"/>
              </a:rPr>
              <a:t>AUGMENTATION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39112"/>
            <a:ext cx="3191256" cy="1188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Horizontal flip, random rotation (0.1), and random zoom (0.1) on training images.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060704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The validation and test sets are kept separate from training and augmentation.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File-path overlap checks confirmed zero shared image paths between the three splits.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03 •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Why MobileNetV2?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36776"/>
            <a:ext cx="488289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2A68A4"/>
                </a:solidFill>
                <a:latin typeface="Aptos"/>
              </a:rPr>
              <a:t>TRANSFER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39112"/>
            <a:ext cx="4882896" cy="1188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Use ImageNet-pretrained MobileNetV2 as a feature extractor, then train a task-specific classification 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636776"/>
            <a:ext cx="488289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1C8F85"/>
                </a:solidFill>
                <a:latin typeface="Aptos"/>
              </a:rPr>
              <a:t>LIGHTWEIGHT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39112"/>
            <a:ext cx="4882896" cy="1188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Depthwise-separable convolutions make MobileNetV2 a useful candidate when inference efficiency and mobile deployment matter.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475488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300" b="1">
                <a:solidFill>
                  <a:srgbClr val="1C8F85"/>
                </a:solidFill>
                <a:latin typeface="Aptos"/>
              </a:rPr>
              <a:t>MODEL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60020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2740"/>
                </a:solidFill>
              </a:rPr>
              <a:t>224×224×3
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470916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1C8F85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434840"/>
            <a:ext cx="1600200" cy="914400"/>
          </a:xfrm>
          <a:prstGeom prst="roundRect">
            <a:avLst/>
          </a:prstGeom>
          <a:solidFill>
            <a:srgbClr val="E6F2F0"/>
          </a:solidFill>
          <a:ln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2740"/>
                </a:solidFill>
              </a:rPr>
              <a:t>Augmentation
+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470916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1C8F85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4434840"/>
            <a:ext cx="160020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2740"/>
                </a:solidFill>
              </a:rPr>
              <a:t>MobileNetV2
frozen 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70916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1C8F85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434840"/>
            <a:ext cx="1600200" cy="914400"/>
          </a:xfrm>
          <a:prstGeom prst="roundRect">
            <a:avLst/>
          </a:prstGeom>
          <a:solidFill>
            <a:srgbClr val="E6F2F0"/>
          </a:solidFill>
          <a:ln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2740"/>
                </a:solidFill>
              </a:rPr>
              <a:t>Global average
pooling + dropout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70916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800" b="1">
                <a:solidFill>
                  <a:srgbClr val="1C8F8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4434840"/>
            <a:ext cx="160020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D0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2740"/>
                </a:solidFill>
              </a:rPr>
              <a:t>15-way softmax
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03 •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Training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36776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2A68A4"/>
                </a:solidFill>
                <a:latin typeface="Aptos"/>
              </a:rPr>
              <a:t>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39112"/>
            <a:ext cx="3191256" cy="8686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Adam
Learning rate: 0.001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636776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1C8F85"/>
                </a:solidFill>
                <a:latin typeface="Aptos"/>
              </a:rPr>
              <a:t>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39112"/>
            <a:ext cx="3191256" cy="8686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Sparse categorical
cross-entropy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636776"/>
            <a:ext cx="319125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DD893A"/>
                </a:solidFill>
                <a:latin typeface="Aptos"/>
              </a:rPr>
              <a:t>REGULARIZATION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39112"/>
            <a:ext cx="3191256" cy="8686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Dropout: 0.3
Data augmentation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74720"/>
            <a:ext cx="10424160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Batch size: 32; input resolution: 224 × 224.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Trained for up to 10 epochs with a best-validation-loss checkpoint.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Early stopping (patience 3) and ReduceLROnPlateau (factor 0.2, patience 2) were used.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Best checkpoint: epoch 9 based on validation 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04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Training &amp; validation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74519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700" b="1">
                <a:solidFill>
                  <a:srgbClr val="1C8F85"/>
                </a:solidFill>
                <a:latin typeface="Aptos"/>
              </a:rPr>
              <a:t>90.32%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200" b="0">
                <a:solidFill>
                  <a:srgbClr val="5D6C7C"/>
                </a:solidFill>
                <a:latin typeface="Aptos"/>
              </a:rPr>
              <a:t>Best validation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16459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700" b="1">
                <a:solidFill>
                  <a:srgbClr val="2A68A4"/>
                </a:solidFill>
                <a:latin typeface="Aptos"/>
              </a:rPr>
              <a:t>0.2988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87168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200" b="0">
                <a:solidFill>
                  <a:srgbClr val="5D6C7C"/>
                </a:solidFill>
                <a:latin typeface="Aptos"/>
              </a:rPr>
              <a:t>Best validation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6459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7" y="1874519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700" b="1">
                <a:solidFill>
                  <a:srgbClr val="DD893A"/>
                </a:solidFill>
                <a:latin typeface="Aptos"/>
              </a:rPr>
              <a:t>Epoch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7" y="2487168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200" b="0">
                <a:solidFill>
                  <a:srgbClr val="5D6C7C"/>
                </a:solidFill>
                <a:latin typeface="Aptos"/>
              </a:rPr>
              <a:t>Best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33272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Validation accuracy improved over training and reached approximately 90%.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The best validation checkpoint was restored for final evaluation.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Training and validation curves are available in the notebook.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04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Held-out test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3749039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3400" b="1">
                <a:solidFill>
                  <a:srgbClr val="1C8F85"/>
                </a:solidFill>
                <a:latin typeface="Aptos"/>
              </a:rPr>
              <a:t>89.78%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34747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100" b="1">
                <a:solidFill>
                  <a:srgbClr val="5D6C7C"/>
                </a:solidFill>
                <a:latin typeface="Aptos"/>
              </a:rPr>
              <a:t>TEST ACCURACY • 3,101 IMAGES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0" y="1508760"/>
          <a:ext cx="6309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109728">
                    <a:solidFill>
                      <a:srgbClr val="15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Test result</a:t>
                      </a:r>
                    </a:p>
                  </a:txBody>
                  <a:tcPr marL="109728">
                    <a:solidFill>
                      <a:srgbClr val="15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marL="109728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89.78%</a:t>
                      </a:r>
                    </a:p>
                  </a:txBody>
                  <a:tcPr marL="109728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Macro precision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90.13%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Macro recall</a:t>
                      </a:r>
                    </a:p>
                  </a:txBody>
                  <a:tcPr marL="109728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88.13%</a:t>
                      </a:r>
                    </a:p>
                  </a:txBody>
                  <a:tcPr marL="109728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Macro F1-score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88.50%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Weighted F1-score</a:t>
                      </a:r>
                    </a:p>
                  </a:txBody>
                  <a:tcPr marL="109728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23E"/>
                          </a:solidFill>
                        </a:defRPr>
                      </a:pPr>
                      <a:r>
                        <a:t>89.61%</a:t>
                      </a:r>
                    </a:p>
                  </a:txBody>
                  <a:tcPr marL="109728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8680" y="2880360"/>
            <a:ext cx="356616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t>•  Weighted metrics reflect the class distribution.</a:t>
            </a:r>
          </a:p>
          <a:p>
            <a:pPr>
              <a:spcAft>
                <a:spcPts val="1000"/>
              </a:spcAft>
              <a:defRPr sz="1500">
                <a:solidFill>
                  <a:srgbClr val="28323E"/>
                </a:solidFill>
                <a:latin typeface="Aptos"/>
              </a:defRPr>
            </a:pPr>
            <a:r>
              <a:t>•  Macro metrics give each class equal importance.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04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Error analysis: where does the model struggle?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36776"/>
            <a:ext cx="309981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B54848"/>
                </a:solidFill>
                <a:latin typeface="Aptos"/>
              </a:rPr>
              <a:t>TOMATO EARLY BLIGHT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39112"/>
            <a:ext cx="3099816" cy="9601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Recall: 57.33%
Most important weakness in the test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636776"/>
            <a:ext cx="309981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DD893A"/>
                </a:solidFill>
                <a:latin typeface="Aptos"/>
              </a:rPr>
              <a:t>TOMATO MOSAIC VIRUS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39112"/>
            <a:ext cx="3099816" cy="9601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Recall: 66.07%
Some affected examples were missed.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636776"/>
            <a:ext cx="309981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30845B"/>
                </a:solidFill>
                <a:latin typeface="Aptos"/>
              </a:rPr>
              <a:t>STRONGER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039112"/>
            <a:ext cx="3099816" cy="9601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Examples: Pepper Bacterial Spot (99.33% recall), Potato Early Blight (98.00%).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57600"/>
            <a:ext cx="10424160" cy="1737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Confusion matrix highlights overlap among visually similar disease categories.</a:t>
            </a:r>
          </a:p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The notebook includes five correct and five incorrect prediction examples for qualitative inspection.</a:t>
            </a:r>
          </a:p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Business implication: overall accuracy alone is not enough when missed disease cases have a real-world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05 •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Prototype &amp; business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36776"/>
            <a:ext cx="488289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2A68A4"/>
                </a:solidFill>
                <a:latin typeface="Aptos"/>
              </a:rPr>
              <a:t>STREAMLIT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39112"/>
            <a:ext cx="4882896" cy="1188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User uploads a leaf image → model predicts → app displays the predicted class, confidence, and top-three alternatives.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636776"/>
            <a:ext cx="488289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1C8F85"/>
                </a:solidFill>
                <a:latin typeface="Aptos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39112"/>
            <a:ext cx="4882896" cy="11887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Use as a preliminary screening / decision-support tool, not as an autonomous diagnosis system. Route uncertain cases to an expert.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10424160" cy="1737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Before field use, validate on real farm images with variable lighting, backgrounds, and camera quality.</a:t>
            </a:r>
          </a:p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Improve recall for weak classes; calibrate confidence and define escalation thresholds.</a:t>
            </a:r>
          </a:p>
          <a:p>
            <a:pPr>
              <a:spcAft>
                <a:spcPts val="1000"/>
              </a:spcAft>
              <a:defRPr sz="1600">
                <a:solidFill>
                  <a:srgbClr val="28323E"/>
                </a:solidFill>
                <a:latin typeface="Aptos"/>
              </a:defRPr>
            </a:pPr>
            <a:r>
              <a:t>•  Benchmark a TensorFlow Lite version for mobile latency, memory, and model size.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900" b="1">
                <a:solidFill>
                  <a:srgbClr val="1C8F85"/>
                </a:solidFill>
                <a:latin typeface="Aptos"/>
              </a:rPr>
              <a:t>06 •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52740"/>
                </a:solidFill>
                <a:latin typeface="Aptos"/>
              </a:rPr>
              <a:t>Limitations, next steps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61288"/>
            <a:ext cx="914400" cy="41148"/>
          </a:xfrm>
          <a:prstGeom prst="rect">
            <a:avLst/>
          </a:prstGeom>
          <a:solidFill>
            <a:srgbClr val="1C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5D6C7C"/>
                </a:solidFill>
                <a:latin typeface="Aptos"/>
              </a:rPr>
              <a:t>PLANTVILLAGE • MOBILENETV2 • 15-CLASS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1">
                <a:solidFill>
                  <a:srgbClr val="5D6C7C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6492240" cy="4206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Current evaluation uses PlantVillage data; field generalization is not yet established.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Class imbalance and visually similar symptoms affect per-class performance.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Next: collect representative field data, improve weak classes, calibrate confidence, and benchmark mobile deployment.</a:t>
            </a:r>
          </a:p>
          <a:p>
            <a:pPr>
              <a:spcAft>
                <a:spcPts val="1000"/>
              </a:spcAft>
              <a:defRPr sz="1700">
                <a:solidFill>
                  <a:srgbClr val="28323E"/>
                </a:solidFill>
                <a:latin typeface="Aptos"/>
              </a:defRPr>
            </a:pPr>
            <a:r>
              <a:t>•  The prototype demonstrates a complete workflow from dataset exploration to an interactive prediction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3657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9831" y="1819656"/>
            <a:ext cx="3328416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1C8F85"/>
                </a:solidFill>
                <a:latin typeface="Aptos"/>
              </a:rP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2221992"/>
            <a:ext cx="3328416" cy="169163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28323E"/>
                </a:solidFill>
                <a:latin typeface="Aptos"/>
              </a:rPr>
              <a:t>A promising lightweight baseline with 89.78% held-out test accuracy—ready for further validation, not yet a field-proven diagnostic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754880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700" b="1">
                <a:solidFill>
                  <a:srgbClr val="152740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349240"/>
            <a:ext cx="32918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300" b="0">
                <a:solidFill>
                  <a:srgbClr val="5D6C7C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1022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yadav</cp:lastModifiedBy>
  <cp:revision>2</cp:revision>
  <dcterms:created xsi:type="dcterms:W3CDTF">2013-01-27T09:14:16Z</dcterms:created>
  <dcterms:modified xsi:type="dcterms:W3CDTF">2026-10-30T12:21:48Z</dcterms:modified>
  <cp:category/>
</cp:coreProperties>
</file>